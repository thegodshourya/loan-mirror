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CYPHER '26 problem statements supplied by organiser: Theme 02 (page 2). Title example uses an entirely synthetic ₹10,000 12% nominal loan over 3 months with upfront processing fee ₹500 and tax ₹90, for cash received ₹9,410. These terms are fictional. Talk track: We don't score lenders; we help people reconcile documented claims. Avoid alleging a real lender is deceptive.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illustrative example, not a real lender. Model: ₹10,000 principal, 12% nominal annual /12, three monthly reducing-balance instalments, ₹500 processing fee + ₹90 fee tax deducted at disbursement. Mathematical formula yields ₹3,400.2211148 installment, total repayments ₹10,200.6633444, net receipts ₹9,410, total borrower cost = repayments − cash received = ₹790.6633444. Regulators distinguish nominal interest from all-inclusive APR; a higher APR is not proof of misleading conduct. Source: RBI Key Facts Statement requirements https://www.rbi.org.in/Scripts/BS_ViewMasDirections.aspx?id=12256 ; RBI Digital Lending Directions (2025) https://www.rbi.org.in/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UI illustrations, not screenshots from a deployed production product. Included proof-of-concept code builds these three capabilities in a Streamlit interface: PDF extraction on supported synthetic document format, manual verification / correction, and evidence-backed deterministic comparison. Mismatch example: fee advertised ₹0 but loan-terms processing fee ₹500; tax ₹90 extra. Source excerpts are grounded in the synthetic PDFs, not lender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implementation: Python, PyMuPDF for digital PDF extraction, regex for supported synthetic layouts, user verification for all fields, EMI calculation and like-for-like term comparison. The project does not currently run LLM-based extraction or OCR; those are future work. Working artifacts: prototype/app.py and tests/test_synthetic.py. RBI KFS source: https://systemhealth.rbi.org.in/Scripts/BS_ViewMasDirections.aspx_id%3D12256%282%29.html ; RBI Digital Lending Directions (2025).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Grounding: locally executed pytest on 2026-10-24 reports 19 passed; 15 parameterised test cases each use a generated advertisement PDF and generated KFS-like PDF (30 PDFs total). Every case checks extraction of the five essential numeric KFS fields, finance model, mismatch statuses and source excerpts; extra cases cover 3 EMI fixtures and invalid inputs. Validation is synthetic and deliberately narrow. DO NOT characterize results as accuracy measured on real lender documents or a production system. Log: notes/test_results.txt.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Official CYPHER '26 Round 1 requires problem statement, proposed solution, technical feasibility, innovation/real-world impact, implementation plan. The top 25 teams advance to an eight-hour in-person finale. Official event listing: https://unstop.com/hackathons/cypher-digiweek-jc-bose-university-of-science-and-technology-ymca-faridabad-1771873/amp and supplied CYPHER_26_Problem_Statements_Bento.pdf. Verify organiser's build/reuse rules before the event. Three-member allocation: (A) product/research+pitch, (B) backend+math, (C) frontend+QA; four members split frontend and QA. Closing line: 'Understand before you sign.'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F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" y="5303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EECE4"/>
          </a:solidFill>
          <a:ln w="12700">
            <a:solidFill>
              <a:srgbClr val="DEEC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" y="626364"/>
            <a:ext cx="210312" cy="210312"/>
          </a:xfrm>
          <a:prstGeom prst="roundRect">
            <a:avLst>
              <a:gd name="adj" fmla="val 30435"/>
            </a:avLst>
          </a:prstGeom>
          <a:solidFill>
            <a:srgbClr val="142F31"/>
          </a:solidFill>
          <a:ln w="12700">
            <a:solidFill>
              <a:srgbClr val="142F3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16152" y="557784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LoanMirror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13232" y="1325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spc="220" kern="0" dirty="0">
                <a:solidFill>
                  <a:srgbClr val="A6C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CYPHER 2026  /  FINTECH &amp; CONSUMER TRANSPARENCY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667512" y="1874520"/>
            <a:ext cx="6766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4650" b="1" spc="-13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Know the real cost</a:t>
            </a:r>
            <a:endParaRPr lang="en-US" sz="4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50" b="1" spc="-13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before you borrow.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704088" y="4297680"/>
            <a:ext cx="5806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3000"/>
              </a:lnSpc>
              <a:buNone/>
            </a:pPr>
            <a:r>
              <a:rPr lang="en-US" sz="1930" dirty="0">
                <a:solidFill>
                  <a:srgbClr val="C9DD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document-first way to verify what a loan ad promises — and what its terms actually say.</a:t>
            </a:r>
            <a:endParaRPr lang="en-US" sz="1930" dirty="0"/>
          </a:p>
        </p:txBody>
      </p:sp>
      <p:sp>
        <p:nvSpPr>
          <p:cNvPr id="8" name="Shape 6"/>
          <p:cNvSpPr/>
          <p:nvPr/>
        </p:nvSpPr>
        <p:spPr>
          <a:xfrm>
            <a:off x="722376" y="5852160"/>
            <a:ext cx="594360" cy="0"/>
          </a:xfrm>
          <a:prstGeom prst="line">
            <a:avLst/>
          </a:prstGeom>
          <a:noFill/>
          <a:ln w="40640">
            <a:solidFill>
              <a:srgbClr val="EACB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99616" y="569671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spc="110" kern="0" dirty="0">
                <a:solidFill>
                  <a:srgbClr val="C8DB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INDIAN AVENGERS  /  ROUND 1 PROTOTYPE VALIDATED ON SYNTHETIC DATA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7470648" y="1207008"/>
            <a:ext cx="4041648" cy="4553712"/>
          </a:xfrm>
          <a:prstGeom prst="roundRect">
            <a:avLst>
              <a:gd name="adj" fmla="val 4977"/>
            </a:avLst>
          </a:prstGeom>
          <a:solidFill>
            <a:srgbClr val="E8F1EB"/>
          </a:solidFill>
          <a:ln w="12700">
            <a:solidFill>
              <a:srgbClr val="E8F1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99832" y="1554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spc="140" kern="0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LOAN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7799832" y="1947672"/>
            <a:ext cx="3392424" cy="0"/>
          </a:xfrm>
          <a:prstGeom prst="line">
            <a:avLst/>
          </a:prstGeom>
          <a:noFill/>
          <a:ln w="12700">
            <a:solidFill>
              <a:srgbClr val="CADA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99832" y="21031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0" b="1" spc="-150" kern="0" dirty="0">
                <a:solidFill>
                  <a:srgbClr val="142F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12%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7808976" y="3127248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334F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advertised nominal rate</a:t>
            </a:r>
            <a:endParaRPr lang="en-US" sz="1460" dirty="0"/>
          </a:p>
        </p:txBody>
      </p:sp>
      <p:sp>
        <p:nvSpPr>
          <p:cNvPr id="15" name="Shape 13"/>
          <p:cNvSpPr/>
          <p:nvPr/>
        </p:nvSpPr>
        <p:spPr>
          <a:xfrm>
            <a:off x="7808976" y="3621024"/>
            <a:ext cx="3328416" cy="0"/>
          </a:xfrm>
          <a:prstGeom prst="line">
            <a:avLst/>
          </a:prstGeom>
          <a:noFill/>
          <a:ln w="12700">
            <a:solidFill>
              <a:srgbClr val="CADA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08976" y="37764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20" b="1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₹10,000</a:t>
            </a:r>
            <a:endParaRPr lang="en-US" sz="2420" dirty="0"/>
          </a:p>
        </p:txBody>
      </p:sp>
      <p:sp>
        <p:nvSpPr>
          <p:cNvPr id="17" name="Text 15"/>
          <p:cNvSpPr/>
          <p:nvPr/>
        </p:nvSpPr>
        <p:spPr>
          <a:xfrm>
            <a:off x="7818120" y="420624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sanctioned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9665208" y="377647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20" b="1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₹9,410</a:t>
            </a:r>
            <a:endParaRPr lang="en-US" sz="2420" dirty="0"/>
          </a:p>
        </p:txBody>
      </p:sp>
      <p:sp>
        <p:nvSpPr>
          <p:cNvPr id="19" name="Text 17"/>
          <p:cNvSpPr/>
          <p:nvPr/>
        </p:nvSpPr>
        <p:spPr>
          <a:xfrm>
            <a:off x="9674352" y="4206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actually received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7781544" y="4828032"/>
            <a:ext cx="3419856" cy="548640"/>
          </a:xfrm>
          <a:prstGeom prst="roundRect">
            <a:avLst>
              <a:gd name="adj" fmla="val 18333"/>
            </a:avLst>
          </a:prstGeom>
          <a:solidFill>
            <a:srgbClr val="142F31"/>
          </a:solidFill>
          <a:ln w="12700">
            <a:solidFill>
              <a:srgbClr val="142F3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27848" y="5001768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spc="6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DIFFERENCE WORTH EXPLAINING  →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658368" y="6446520"/>
            <a:ext cx="10890504" cy="0"/>
          </a:xfrm>
          <a:prstGeom prst="line">
            <a:avLst/>
          </a:prstGeom>
          <a:noFill/>
          <a:ln w="10160">
            <a:solidFill>
              <a:srgbClr val="3D59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6510528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70" kern="0" dirty="0">
                <a:solidFill>
                  <a:srgbClr val="A7C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LOANMIRROR  /  CYPHER '26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6501384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7C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02 · DIGITAL COMMERCE &amp; CYBER SECURITY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91088" y="65013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7C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57C70"/>
          </a:solidFill>
          <a:ln w="12700">
            <a:solidFill>
              <a:srgbClr val="257C7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10896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THE PROBLEM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446520"/>
            <a:ext cx="10890504" cy="0"/>
          </a:xfrm>
          <a:prstGeom prst="line">
            <a:avLst/>
          </a:prstGeom>
          <a:noFill/>
          <a:ln w="10160">
            <a:solidFill>
              <a:srgbClr val="D6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6510528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70" kern="0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LOANMIRROR  /  CYPHER '26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991088" y="65013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75895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50" b="1" spc="-65" kern="0" dirty="0">
                <a:solidFill>
                  <a:srgbClr val="142F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An interest rate is not the whole loan.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685800" y="14264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Borrowers need to reconcile the ad, the KFS, and the cash that reaches their account.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3232" y="1956816"/>
            <a:ext cx="3776472" cy="344728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E0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956816"/>
            <a:ext cx="3776472" cy="521208"/>
          </a:xfrm>
          <a:prstGeom prst="roundRect">
            <a:avLst>
              <a:gd name="adj" fmla="val 26316"/>
            </a:avLst>
          </a:prstGeom>
          <a:solidFill>
            <a:srgbClr val="DEECE4"/>
          </a:solidFill>
          <a:ln w="12700">
            <a:solidFill>
              <a:srgbClr val="DEECE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212140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spc="220" kern="0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AD LEADS WITH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1014984" y="2651760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142F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12%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1042416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F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nominal annual interest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042416" y="4507992"/>
            <a:ext cx="3035808" cy="0"/>
          </a:xfrm>
          <a:prstGeom prst="line">
            <a:avLst/>
          </a:prstGeom>
          <a:noFill/>
          <a:ln w="11430">
            <a:solidFill>
              <a:srgbClr val="D6E0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65429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ad may omit the full cash-flow picture.</a:t>
            </a:r>
            <a:endParaRPr lang="en-US" sz="1480" dirty="0"/>
          </a:p>
        </p:txBody>
      </p:sp>
      <p:sp>
        <p:nvSpPr>
          <p:cNvPr id="16" name="Shape 14"/>
          <p:cNvSpPr/>
          <p:nvPr/>
        </p:nvSpPr>
        <p:spPr>
          <a:xfrm>
            <a:off x="4700016" y="3429000"/>
            <a:ext cx="630936" cy="630936"/>
          </a:xfrm>
          <a:prstGeom prst="ellipse">
            <a:avLst/>
          </a:prstGeom>
          <a:solidFill>
            <a:srgbClr val="DEECE4"/>
          </a:solidFill>
          <a:ln w="12700">
            <a:solidFill>
              <a:srgbClr val="DEECE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5021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577840" y="1956816"/>
            <a:ext cx="5888736" cy="344728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E0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9592" y="216712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spc="220" kern="0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DOCUMENTS + CASH FLOW SHOW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5879592" y="2660904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334F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Sanctioned principal</a:t>
            </a:r>
            <a:endParaRPr lang="en-US" sz="1530" dirty="0"/>
          </a:p>
        </p:txBody>
      </p:sp>
      <p:sp>
        <p:nvSpPr>
          <p:cNvPr id="21" name="Text 19"/>
          <p:cNvSpPr/>
          <p:nvPr/>
        </p:nvSpPr>
        <p:spPr>
          <a:xfrm>
            <a:off x="9692640" y="2660904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₹10,000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879592" y="3081528"/>
            <a:ext cx="5266944" cy="0"/>
          </a:xfrm>
          <a:prstGeom prst="line">
            <a:avLst/>
          </a:prstGeom>
          <a:noFill/>
          <a:ln w="8255">
            <a:solidFill>
              <a:srgbClr val="D6E0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79592" y="3172968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334F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Upfront fees + tax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9692640" y="3172968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 ₹590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879592" y="3593592"/>
            <a:ext cx="5266944" cy="0"/>
          </a:xfrm>
          <a:prstGeom prst="line">
            <a:avLst/>
          </a:prstGeom>
          <a:noFill/>
          <a:ln w="8255">
            <a:solidFill>
              <a:srgbClr val="D6E0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9592" y="3685032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Money received by borrower</a:t>
            </a:r>
            <a:endParaRPr lang="en-US" sz="1530" dirty="0"/>
          </a:p>
        </p:txBody>
      </p:sp>
      <p:sp>
        <p:nvSpPr>
          <p:cNvPr id="27" name="Text 25"/>
          <p:cNvSpPr/>
          <p:nvPr/>
        </p:nvSpPr>
        <p:spPr>
          <a:xfrm>
            <a:off x="9692640" y="3685032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₹9,410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879592" y="4105656"/>
            <a:ext cx="5266944" cy="0"/>
          </a:xfrm>
          <a:prstGeom prst="line">
            <a:avLst/>
          </a:prstGeom>
          <a:noFill/>
          <a:ln w="8255">
            <a:solidFill>
              <a:srgbClr val="D6E0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79592" y="4197096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334F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Repayment total · 3 months</a:t>
            </a:r>
            <a:endParaRPr lang="en-US" sz="1530" dirty="0"/>
          </a:p>
        </p:txBody>
      </p:sp>
      <p:sp>
        <p:nvSpPr>
          <p:cNvPr id="30" name="Text 28"/>
          <p:cNvSpPr/>
          <p:nvPr/>
        </p:nvSpPr>
        <p:spPr>
          <a:xfrm>
            <a:off x="9692640" y="4197096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₹10,200.66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5824728" y="4828032"/>
            <a:ext cx="5303520" cy="365760"/>
          </a:xfrm>
          <a:prstGeom prst="roundRect">
            <a:avLst>
              <a:gd name="adj" fmla="val 22500"/>
            </a:avLst>
          </a:prstGeom>
          <a:solidFill>
            <a:srgbClr val="EDF3EE"/>
          </a:solidFill>
          <a:ln w="12700">
            <a:solidFill>
              <a:srgbClr val="EDF3E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98464" y="4910328"/>
            <a:ext cx="49651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5" kern="0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BORROWING COST ABOVE CASH RECEIVED: ₹790.66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13232" y="5650992"/>
            <a:ext cx="10762488" cy="493776"/>
          </a:xfrm>
          <a:prstGeom prst="roundRect">
            <a:avLst>
              <a:gd name="adj" fmla="val 14815"/>
            </a:avLst>
          </a:prstGeom>
          <a:solidFill>
            <a:srgbClr val="DEECE4"/>
          </a:solidFill>
          <a:ln w="12700">
            <a:solidFill>
              <a:srgbClr val="DEECE4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5760720"/>
            <a:ext cx="10369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 is not that APR and nominal interest differ. The problem is when key terms cannot be easily understood or reconciled.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57C70"/>
          </a:solidFill>
          <a:ln w="12700">
            <a:solidFill>
              <a:srgbClr val="257C7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10896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THE EXPERIENCE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446520"/>
            <a:ext cx="10890504" cy="0"/>
          </a:xfrm>
          <a:prstGeom prst="line">
            <a:avLst/>
          </a:prstGeom>
          <a:noFill/>
          <a:ln w="10160">
            <a:solidFill>
              <a:srgbClr val="D6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6510528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70" kern="0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LOANMIRROR  /  CYPHER '26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991088" y="65013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75895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50" b="1" spc="-65" kern="0" dirty="0">
                <a:solidFill>
                  <a:srgbClr val="142F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 calmer way to understand the fine print.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685800" y="14264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three-step interface that turns dense terms into traceable, human-readable findings.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3232" y="1975104"/>
            <a:ext cx="3328416" cy="38679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E0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975104"/>
            <a:ext cx="3328416" cy="484632"/>
          </a:xfrm>
          <a:prstGeom prst="roundRect">
            <a:avLst>
              <a:gd name="adj" fmla="val 24528"/>
            </a:avLst>
          </a:prstGeom>
          <a:solidFill>
            <a:srgbClr val="EDF3EE"/>
          </a:solidFill>
          <a:ln w="12700">
            <a:solidFill>
              <a:srgbClr val="EDF3E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112264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spc="135" kern="0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3474720" y="2093976"/>
            <a:ext cx="320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96696" y="2715768"/>
            <a:ext cx="2761488" cy="1143000"/>
          </a:xfrm>
          <a:prstGeom prst="roundRect">
            <a:avLst>
              <a:gd name="adj" fmla="val 10400"/>
            </a:avLst>
          </a:prstGeom>
          <a:solidFill>
            <a:srgbClr val="F8FAF7"/>
          </a:solidFill>
          <a:ln w="12700">
            <a:solidFill>
              <a:srgbClr val="F8FAF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6696" y="2715768"/>
            <a:ext cx="2761488" cy="1143000"/>
          </a:xfrm>
          <a:prstGeom prst="roundRect">
            <a:avLst/>
          </a:prstGeom>
          <a:solidFill>
            <a:srgbClr val="F8FAF7"/>
          </a:solidFill>
          <a:ln w="11430">
            <a:solidFill>
              <a:srgbClr val="C5D8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93392" y="2862072"/>
            <a:ext cx="374904" cy="374904"/>
          </a:xfrm>
          <a:prstGeom prst="ellipse">
            <a:avLst/>
          </a:prstGeom>
          <a:solidFill>
            <a:srgbClr val="DEECE4"/>
          </a:solidFill>
          <a:ln w="12700">
            <a:solidFill>
              <a:srgbClr val="DEECE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66544" y="289864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52144" y="3392424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10" b="1" dirty="0">
                <a:solidFill>
                  <a:srgbClr val="183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Loan offer.pdf</a:t>
            </a:r>
            <a:endParaRPr lang="en-US" sz="1410" dirty="0"/>
          </a:p>
        </p:txBody>
      </p:sp>
      <p:sp>
        <p:nvSpPr>
          <p:cNvPr id="18" name="Shape 16"/>
          <p:cNvSpPr/>
          <p:nvPr/>
        </p:nvSpPr>
        <p:spPr>
          <a:xfrm>
            <a:off x="996696" y="4059936"/>
            <a:ext cx="2761488" cy="521208"/>
          </a:xfrm>
          <a:prstGeom prst="roundRect">
            <a:avLst>
              <a:gd name="adj" fmla="val 12281"/>
            </a:avLst>
          </a:prstGeom>
          <a:solidFill>
            <a:srgbClr val="EDF3EE"/>
          </a:solidFill>
          <a:ln w="12700">
            <a:solidFill>
              <a:srgbClr val="EDF3E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4206240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F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Loan terms / KFS.pdf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98448" y="4809744"/>
            <a:ext cx="2139696" cy="301752"/>
          </a:xfrm>
          <a:prstGeom prst="roundRect">
            <a:avLst>
              <a:gd name="adj" fmla="val 30303"/>
            </a:avLst>
          </a:prstGeom>
          <a:solidFill>
            <a:srgbClr val="DEECE4"/>
          </a:solidFill>
          <a:ln w="12700">
            <a:solidFill>
              <a:srgbClr val="DEECE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08176" y="48600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documents ready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" y="600760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30" b="1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both documents</a:t>
            </a:r>
            <a:endParaRPr lang="en-US" sz="1630" dirty="0"/>
          </a:p>
        </p:txBody>
      </p:sp>
      <p:sp>
        <p:nvSpPr>
          <p:cNvPr id="23" name="Shape 21"/>
          <p:cNvSpPr/>
          <p:nvPr/>
        </p:nvSpPr>
        <p:spPr>
          <a:xfrm>
            <a:off x="4425696" y="1975104"/>
            <a:ext cx="3328416" cy="38679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E0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25696" y="1975104"/>
            <a:ext cx="3328416" cy="484632"/>
          </a:xfrm>
          <a:prstGeom prst="roundRect">
            <a:avLst>
              <a:gd name="adj" fmla="val 24528"/>
            </a:avLst>
          </a:prstGeom>
          <a:solidFill>
            <a:srgbClr val="EDF3EE"/>
          </a:solidFill>
          <a:ln w="12700">
            <a:solidFill>
              <a:srgbClr val="EDF3E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54296" y="2112264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spc="135" kern="0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</a:t>
            </a:r>
            <a:endParaRPr lang="en-US" sz="1160" dirty="0"/>
          </a:p>
        </p:txBody>
      </p:sp>
      <p:sp>
        <p:nvSpPr>
          <p:cNvPr id="26" name="Text 24"/>
          <p:cNvSpPr/>
          <p:nvPr/>
        </p:nvSpPr>
        <p:spPr>
          <a:xfrm>
            <a:off x="7187184" y="2093976"/>
            <a:ext cx="320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681728" y="2679192"/>
            <a:ext cx="1682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Principal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071616" y="267919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20" b="1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₹10,000</a:t>
            </a:r>
            <a:endParaRPr lang="en-US" sz="1520" dirty="0"/>
          </a:p>
        </p:txBody>
      </p:sp>
      <p:sp>
        <p:nvSpPr>
          <p:cNvPr id="29" name="Shape 27"/>
          <p:cNvSpPr/>
          <p:nvPr/>
        </p:nvSpPr>
        <p:spPr>
          <a:xfrm>
            <a:off x="4672584" y="3108960"/>
            <a:ext cx="2834640" cy="0"/>
          </a:xfrm>
          <a:prstGeom prst="line">
            <a:avLst/>
          </a:prstGeom>
          <a:noFill/>
          <a:ln w="8255">
            <a:solidFill>
              <a:srgbClr val="D6E0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3310128"/>
            <a:ext cx="1682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Nominal rate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071616" y="331012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20" b="1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12.00%</a:t>
            </a:r>
            <a:endParaRPr lang="en-US" sz="1520" dirty="0"/>
          </a:p>
        </p:txBody>
      </p:sp>
      <p:sp>
        <p:nvSpPr>
          <p:cNvPr id="32" name="Shape 30"/>
          <p:cNvSpPr/>
          <p:nvPr/>
        </p:nvSpPr>
        <p:spPr>
          <a:xfrm>
            <a:off x="4672584" y="3739896"/>
            <a:ext cx="2834640" cy="0"/>
          </a:xfrm>
          <a:prstGeom prst="line">
            <a:avLst/>
          </a:prstGeom>
          <a:noFill/>
          <a:ln w="8255">
            <a:solidFill>
              <a:srgbClr val="D6E0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3941064"/>
            <a:ext cx="1682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Tenure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071616" y="394106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20" b="1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months</a:t>
            </a:r>
            <a:endParaRPr lang="en-US" sz="1520" dirty="0"/>
          </a:p>
        </p:txBody>
      </p:sp>
      <p:sp>
        <p:nvSpPr>
          <p:cNvPr id="35" name="Shape 33"/>
          <p:cNvSpPr/>
          <p:nvPr/>
        </p:nvSpPr>
        <p:spPr>
          <a:xfrm>
            <a:off x="4672584" y="4370832"/>
            <a:ext cx="2834640" cy="0"/>
          </a:xfrm>
          <a:prstGeom prst="line">
            <a:avLst/>
          </a:prstGeom>
          <a:noFill/>
          <a:ln w="8255">
            <a:solidFill>
              <a:srgbClr val="D6E0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4572000"/>
            <a:ext cx="1682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Fees + tax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071616" y="45720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20" b="1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₹590</a:t>
            </a:r>
            <a:endParaRPr lang="en-US" sz="1520" dirty="0"/>
          </a:p>
        </p:txBody>
      </p:sp>
      <p:sp>
        <p:nvSpPr>
          <p:cNvPr id="38" name="Shape 36"/>
          <p:cNvSpPr/>
          <p:nvPr/>
        </p:nvSpPr>
        <p:spPr>
          <a:xfrm>
            <a:off x="4672584" y="5001768"/>
            <a:ext cx="2834640" cy="0"/>
          </a:xfrm>
          <a:prstGeom prst="line">
            <a:avLst/>
          </a:prstGeom>
          <a:noFill/>
          <a:ln w="8255">
            <a:solidFill>
              <a:srgbClr val="D6E0D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73752" y="5340096"/>
            <a:ext cx="2468880" cy="301752"/>
          </a:xfrm>
          <a:prstGeom prst="roundRect">
            <a:avLst>
              <a:gd name="adj" fmla="val 30303"/>
            </a:avLst>
          </a:prstGeom>
          <a:solidFill>
            <a:srgbClr val="DEECE4"/>
          </a:solidFill>
          <a:ln w="12700">
            <a:solidFill>
              <a:srgbClr val="DEECE4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539038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Editable before analysis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62856" y="600760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30" b="1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extracted fields</a:t>
            </a:r>
            <a:endParaRPr lang="en-US" sz="1630" dirty="0"/>
          </a:p>
        </p:txBody>
      </p:sp>
      <p:sp>
        <p:nvSpPr>
          <p:cNvPr id="42" name="Shape 40"/>
          <p:cNvSpPr/>
          <p:nvPr/>
        </p:nvSpPr>
        <p:spPr>
          <a:xfrm>
            <a:off x="8138160" y="1975104"/>
            <a:ext cx="3328416" cy="38679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E0D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38160" y="1975104"/>
            <a:ext cx="3328416" cy="484632"/>
          </a:xfrm>
          <a:prstGeom prst="roundRect">
            <a:avLst>
              <a:gd name="adj" fmla="val 24528"/>
            </a:avLst>
          </a:prstGeom>
          <a:solidFill>
            <a:srgbClr val="EDF3EE"/>
          </a:solidFill>
          <a:ln w="12700">
            <a:solidFill>
              <a:srgbClr val="EDF3EE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66760" y="2112264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spc="135" kern="0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</a:t>
            </a:r>
            <a:endParaRPr lang="en-US" sz="1160" dirty="0"/>
          </a:p>
        </p:txBody>
      </p:sp>
      <p:sp>
        <p:nvSpPr>
          <p:cNvPr id="45" name="Text 43"/>
          <p:cNvSpPr/>
          <p:nvPr/>
        </p:nvSpPr>
        <p:spPr>
          <a:xfrm>
            <a:off x="10899648" y="2093976"/>
            <a:ext cx="320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8403336" y="2734056"/>
            <a:ext cx="2249424" cy="301752"/>
          </a:xfrm>
          <a:prstGeom prst="roundRect">
            <a:avLst>
              <a:gd name="adj" fmla="val 30303"/>
            </a:avLst>
          </a:prstGeom>
          <a:solidFill>
            <a:srgbClr val="F5E7DF"/>
          </a:solidFill>
          <a:ln w="12700">
            <a:solidFill>
              <a:srgbClr val="F5E7D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13064" y="2784348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70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MISMATCH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412480" y="3236976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 advertised</a:t>
            </a:r>
            <a:endParaRPr lang="en-US" sz="1340" dirty="0"/>
          </a:p>
        </p:txBody>
      </p:sp>
      <p:sp>
        <p:nvSpPr>
          <p:cNvPr id="49" name="Text 47"/>
          <p:cNvSpPr/>
          <p:nvPr/>
        </p:nvSpPr>
        <p:spPr>
          <a:xfrm>
            <a:off x="10625328" y="323697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30" b="1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₹0</a:t>
            </a:r>
            <a:endParaRPr lang="en-US" sz="1530" dirty="0"/>
          </a:p>
        </p:txBody>
      </p:sp>
      <p:sp>
        <p:nvSpPr>
          <p:cNvPr id="50" name="Shape 48"/>
          <p:cNvSpPr/>
          <p:nvPr/>
        </p:nvSpPr>
        <p:spPr>
          <a:xfrm>
            <a:off x="8412480" y="3630168"/>
            <a:ext cx="2724912" cy="0"/>
          </a:xfrm>
          <a:prstGeom prst="line">
            <a:avLst/>
          </a:prstGeom>
          <a:noFill/>
          <a:ln w="9525">
            <a:solidFill>
              <a:srgbClr val="D6E0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12480" y="3749040"/>
            <a:ext cx="1856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 in loan terms</a:t>
            </a:r>
            <a:endParaRPr lang="en-US" sz="1340" dirty="0"/>
          </a:p>
        </p:txBody>
      </p:sp>
      <p:sp>
        <p:nvSpPr>
          <p:cNvPr id="52" name="Text 50"/>
          <p:cNvSpPr/>
          <p:nvPr/>
        </p:nvSpPr>
        <p:spPr>
          <a:xfrm>
            <a:off x="10424160" y="3749040"/>
            <a:ext cx="704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30" b="1" dirty="0">
                <a:solidFill>
                  <a:srgbClr val="C270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₹500</a:t>
            </a:r>
            <a:endParaRPr lang="en-US" sz="1530" dirty="0"/>
          </a:p>
        </p:txBody>
      </p:sp>
      <p:sp>
        <p:nvSpPr>
          <p:cNvPr id="53" name="Shape 51"/>
          <p:cNvSpPr/>
          <p:nvPr/>
        </p:nvSpPr>
        <p:spPr>
          <a:xfrm>
            <a:off x="8394192" y="4334256"/>
            <a:ext cx="2816352" cy="676656"/>
          </a:xfrm>
          <a:prstGeom prst="roundRect">
            <a:avLst>
              <a:gd name="adj" fmla="val 12162"/>
            </a:avLst>
          </a:prstGeom>
          <a:solidFill>
            <a:srgbClr val="EDF3EE"/>
          </a:solidFill>
          <a:ln w="12700">
            <a:solidFill>
              <a:srgbClr val="EDF3EE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22208" y="44988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“Processing Fee: INR 500”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8412480" y="5212080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loan terms, page 1</a:t>
            </a:r>
            <a:endParaRPr lang="en-US" sz="1220" dirty="0"/>
          </a:p>
        </p:txBody>
      </p:sp>
      <p:sp>
        <p:nvSpPr>
          <p:cNvPr id="56" name="Text 54"/>
          <p:cNvSpPr/>
          <p:nvPr/>
        </p:nvSpPr>
        <p:spPr>
          <a:xfrm>
            <a:off x="8275320" y="600760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30" b="1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the evidence</a:t>
            </a:r>
            <a:endParaRPr lang="en-US" sz="16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57C70"/>
          </a:solidFill>
          <a:ln w="12700">
            <a:solidFill>
              <a:srgbClr val="257C7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10896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THE ENGINE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446520"/>
            <a:ext cx="10890504" cy="0"/>
          </a:xfrm>
          <a:prstGeom prst="line">
            <a:avLst/>
          </a:prstGeom>
          <a:noFill/>
          <a:ln w="10160">
            <a:solidFill>
              <a:srgbClr val="D6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6510528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70" kern="0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LOANMIRROR  /  CYPHER '26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991088" y="65013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75895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50" b="1" spc="-65" kern="0" dirty="0">
                <a:solidFill>
                  <a:srgbClr val="142F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Every conclusion should lead back to evidence.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685800" y="14264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automation for extraction; keep the financial calculations transparent and reproducible.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04088" y="2185416"/>
            <a:ext cx="2057400" cy="210312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2185416"/>
            <a:ext cx="2057400" cy="2103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E0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" y="2414016"/>
            <a:ext cx="429768" cy="429768"/>
          </a:xfrm>
          <a:prstGeom prst="ellipse">
            <a:avLst/>
          </a:prstGeom>
          <a:solidFill>
            <a:srgbClr val="EDF3EE"/>
          </a:solidFill>
          <a:ln w="12700">
            <a:solidFill>
              <a:srgbClr val="EDF3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4692" y="252374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905256" y="3026664"/>
            <a:ext cx="16733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spc="18" kern="0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INPUT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05256" y="3538728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F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+ loan terms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793492" y="3154680"/>
            <a:ext cx="237744" cy="237744"/>
          </a:xfrm>
          <a:prstGeom prst="ellipse">
            <a:avLst/>
          </a:prstGeom>
          <a:solidFill>
            <a:srgbClr val="257C70"/>
          </a:solidFill>
          <a:ln w="12700">
            <a:solidFill>
              <a:srgbClr val="257C7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16352" y="3176626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54096" y="2185416"/>
            <a:ext cx="2057400" cy="210312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54096" y="2185416"/>
            <a:ext cx="2057400" cy="2103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E0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55264" y="2414016"/>
            <a:ext cx="429768" cy="429768"/>
          </a:xfrm>
          <a:prstGeom prst="ellipse">
            <a:avLst/>
          </a:prstGeom>
          <a:solidFill>
            <a:srgbClr val="EDF3EE"/>
          </a:solidFill>
          <a:ln w="12700">
            <a:solidFill>
              <a:srgbClr val="EDF3E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4700" y="252374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3255264" y="3026664"/>
            <a:ext cx="16733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spc="18" kern="0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PARSER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255264" y="3538728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F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text and fields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143500" y="3154680"/>
            <a:ext cx="237744" cy="237744"/>
          </a:xfrm>
          <a:prstGeom prst="ellipse">
            <a:avLst/>
          </a:prstGeom>
          <a:solidFill>
            <a:srgbClr val="257C70"/>
          </a:solidFill>
          <a:ln w="12700">
            <a:solidFill>
              <a:srgbClr val="257C7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3176626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04104" y="2185416"/>
            <a:ext cx="2057400" cy="210312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04104" y="2185416"/>
            <a:ext cx="2057400" cy="2103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E0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05272" y="2414016"/>
            <a:ext cx="429768" cy="429768"/>
          </a:xfrm>
          <a:prstGeom prst="ellipse">
            <a:avLst/>
          </a:prstGeom>
          <a:solidFill>
            <a:srgbClr val="EDF3EE"/>
          </a:solidFill>
          <a:ln w="12700">
            <a:solidFill>
              <a:srgbClr val="EDF3E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4708" y="252374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5605272" y="3026664"/>
            <a:ext cx="16733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spc="18" kern="0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CHECK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5605272" y="3538728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F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&amp; correct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493508" y="3154680"/>
            <a:ext cx="237744" cy="237744"/>
          </a:xfrm>
          <a:prstGeom prst="ellipse">
            <a:avLst/>
          </a:prstGeom>
          <a:solidFill>
            <a:srgbClr val="257C70"/>
          </a:solidFill>
          <a:ln w="12700">
            <a:solidFill>
              <a:srgbClr val="257C7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16368" y="3176626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54112" y="2185416"/>
            <a:ext cx="2057400" cy="2103120"/>
          </a:xfrm>
          <a:prstGeom prst="roundRect">
            <a:avLst>
              <a:gd name="adj" fmla="val 7111"/>
            </a:avLst>
          </a:prstGeom>
          <a:solidFill>
            <a:srgbClr val="DEECE4"/>
          </a:solidFill>
          <a:ln w="12700">
            <a:solidFill>
              <a:srgbClr val="DEECE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54112" y="2185416"/>
            <a:ext cx="2057400" cy="2103120"/>
          </a:xfrm>
          <a:prstGeom prst="roundRect">
            <a:avLst/>
          </a:prstGeom>
          <a:solidFill>
            <a:srgbClr val="DEECE4"/>
          </a:solidFill>
          <a:ln w="11430">
            <a:solidFill>
              <a:srgbClr val="257C7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55280" y="2414016"/>
            <a:ext cx="429768" cy="429768"/>
          </a:xfrm>
          <a:prstGeom prst="ellipse">
            <a:avLst/>
          </a:prstGeom>
          <a:solidFill>
            <a:srgbClr val="257C70"/>
          </a:solidFill>
          <a:ln w="12700">
            <a:solidFill>
              <a:srgbClr val="257C7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14716" y="252374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7955280" y="3026664"/>
            <a:ext cx="16733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spc="18" kern="0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+ MATH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7955280" y="3538728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F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Calculate, compare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9843516" y="3154680"/>
            <a:ext cx="237744" cy="237744"/>
          </a:xfrm>
          <a:prstGeom prst="ellipse">
            <a:avLst/>
          </a:prstGeom>
          <a:solidFill>
            <a:srgbClr val="257C70"/>
          </a:solidFill>
          <a:ln w="12700">
            <a:solidFill>
              <a:srgbClr val="257C70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66376" y="3176626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0104120" y="2185416"/>
            <a:ext cx="2057400" cy="210312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04120" y="2185416"/>
            <a:ext cx="2057400" cy="2103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E0D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305288" y="2414016"/>
            <a:ext cx="429768" cy="429768"/>
          </a:xfrm>
          <a:prstGeom prst="ellipse">
            <a:avLst/>
          </a:prstGeom>
          <a:solidFill>
            <a:srgbClr val="EDF3EE"/>
          </a:solidFill>
          <a:ln w="12700">
            <a:solidFill>
              <a:srgbClr val="EDF3EE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364724" y="252374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20" dirty="0"/>
          </a:p>
        </p:txBody>
      </p:sp>
      <p:sp>
        <p:nvSpPr>
          <p:cNvPr id="45" name="Text 43"/>
          <p:cNvSpPr/>
          <p:nvPr/>
        </p:nvSpPr>
        <p:spPr>
          <a:xfrm>
            <a:off x="10305288" y="3026664"/>
            <a:ext cx="16733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spc="18" kern="0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10305288" y="3538728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F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with sources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704088" y="4654296"/>
            <a:ext cx="5559552" cy="1024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E0D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4088" y="4654296"/>
            <a:ext cx="82296" cy="1024128"/>
          </a:xfrm>
          <a:prstGeom prst="rect">
            <a:avLst/>
          </a:prstGeom>
          <a:solidFill>
            <a:srgbClr val="257C70"/>
          </a:solidFill>
          <a:ln w="12700">
            <a:solidFill>
              <a:srgbClr val="257C70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484632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spc="220" kern="0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IN THE PROTOTYPE</a:t>
            </a:r>
            <a:endParaRPr lang="en-US" sz="1030" dirty="0"/>
          </a:p>
        </p:txBody>
      </p:sp>
      <p:sp>
        <p:nvSpPr>
          <p:cNvPr id="50" name="Text 48"/>
          <p:cNvSpPr/>
          <p:nvPr/>
        </p:nvSpPr>
        <p:spPr>
          <a:xfrm>
            <a:off x="960120" y="5184648"/>
            <a:ext cx="4928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b="1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text → editable fields → deterministic output</a:t>
            </a:r>
            <a:endParaRPr lang="en-US" sz="1610" dirty="0"/>
          </a:p>
        </p:txBody>
      </p:sp>
      <p:sp>
        <p:nvSpPr>
          <p:cNvPr id="51" name="Shape 49"/>
          <p:cNvSpPr/>
          <p:nvPr/>
        </p:nvSpPr>
        <p:spPr>
          <a:xfrm>
            <a:off x="6428232" y="4654296"/>
            <a:ext cx="5047488" cy="1024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E0D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28232" y="4654296"/>
            <a:ext cx="82296" cy="1024128"/>
          </a:xfrm>
          <a:prstGeom prst="rect">
            <a:avLst/>
          </a:prstGeom>
          <a:solidFill>
            <a:srgbClr val="EACB8B"/>
          </a:solidFill>
          <a:ln w="12700">
            <a:solidFill>
              <a:srgbClr val="EACB8B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93408" y="484632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spc="220" kern="0" dirty="0">
                <a:solidFill>
                  <a:srgbClr val="334F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EXTENSION</a:t>
            </a:r>
            <a:endParaRPr lang="en-US" sz="1030" dirty="0"/>
          </a:p>
        </p:txBody>
      </p:sp>
      <p:sp>
        <p:nvSpPr>
          <p:cNvPr id="54" name="Text 52"/>
          <p:cNvSpPr/>
          <p:nvPr/>
        </p:nvSpPr>
        <p:spPr>
          <a:xfrm>
            <a:off x="6693408" y="5184648"/>
            <a:ext cx="4407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b="1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AI-assisted parsing for varied lender layouts</a:t>
            </a:r>
            <a:endParaRPr lang="en-US" sz="1610" dirty="0"/>
          </a:p>
        </p:txBody>
      </p:sp>
      <p:sp>
        <p:nvSpPr>
          <p:cNvPr id="55" name="Text 53"/>
          <p:cNvSpPr/>
          <p:nvPr/>
        </p:nvSpPr>
        <p:spPr>
          <a:xfrm>
            <a:off x="722376" y="593445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prototype never treats an APR–nominal-rate difference as proof of deception.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57C70"/>
          </a:solidFill>
          <a:ln w="12700">
            <a:solidFill>
              <a:srgbClr val="257C7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10896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EVIDENCE &amp; LIMITS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446520"/>
            <a:ext cx="10890504" cy="0"/>
          </a:xfrm>
          <a:prstGeom prst="line">
            <a:avLst/>
          </a:prstGeom>
          <a:noFill/>
          <a:ln w="10160">
            <a:solidFill>
              <a:srgbClr val="D6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6510528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70" kern="0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LOANMIRROR  /  CYPHER '26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991088" y="65013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75895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50" b="1" spc="-65" kern="0" dirty="0">
                <a:solidFill>
                  <a:srgbClr val="142F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Built to be checked, not merely believed.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685800" y="14264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differentiation is document reconciliation — with source excerpts and a reproducible maths engine.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22376" y="2011680"/>
            <a:ext cx="3840480" cy="3547872"/>
          </a:xfrm>
          <a:prstGeom prst="roundRect">
            <a:avLst>
              <a:gd name="adj" fmla="val 4639"/>
            </a:avLst>
          </a:prstGeom>
          <a:solidFill>
            <a:srgbClr val="142F31"/>
          </a:solidFill>
          <a:ln w="12700">
            <a:solidFill>
              <a:srgbClr val="142F3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32257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spc="220" kern="0" dirty="0">
                <a:solidFill>
                  <a:srgbClr val="ADD2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SYNTHETIC DEMO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1014984" y="2852928"/>
            <a:ext cx="32735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40" b="1" spc="-14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15 / 15</a:t>
            </a:r>
            <a:endParaRPr lang="en-US" sz="5140" dirty="0"/>
          </a:p>
        </p:txBody>
      </p:sp>
      <p:sp>
        <p:nvSpPr>
          <p:cNvPr id="12" name="Text 10"/>
          <p:cNvSpPr/>
          <p:nvPr/>
        </p:nvSpPr>
        <p:spPr>
          <a:xfrm>
            <a:off x="1042416" y="3767328"/>
            <a:ext cx="3218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D7E7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document-pair</a:t>
            </a:r>
            <a:endParaRPr lang="en-US" sz="1950" dirty="0"/>
          </a:p>
          <a:p>
            <a:pPr indent="0" marL="0">
              <a:buNone/>
            </a:pPr>
            <a:r>
              <a:rPr lang="en-US" sz="1950" dirty="0">
                <a:solidFill>
                  <a:srgbClr val="D7E7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scenarios verified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33272" y="4681728"/>
            <a:ext cx="3118104" cy="0"/>
          </a:xfrm>
          <a:prstGeom prst="line">
            <a:avLst/>
          </a:prstGeom>
          <a:noFill/>
          <a:ln w="11430">
            <a:solidFill>
              <a:srgbClr val="5876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882896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19 automated tests passed</a:t>
            </a:r>
            <a:endParaRPr lang="en-US" sz="1510" dirty="0"/>
          </a:p>
        </p:txBody>
      </p:sp>
      <p:sp>
        <p:nvSpPr>
          <p:cNvPr id="15" name="Text 13"/>
          <p:cNvSpPr/>
          <p:nvPr/>
        </p:nvSpPr>
        <p:spPr>
          <a:xfrm>
            <a:off x="4983480" y="2075688"/>
            <a:ext cx="6053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spc="220" kern="0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CAN DEMONSTRATE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4983480" y="2478024"/>
            <a:ext cx="338328" cy="338328"/>
          </a:xfrm>
          <a:prstGeom prst="ellipse">
            <a:avLst/>
          </a:prstGeom>
          <a:solidFill>
            <a:srgbClr val="DEECE4"/>
          </a:solidFill>
          <a:ln w="12700">
            <a:solidFill>
              <a:srgbClr val="DEECE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56632" y="2542032"/>
            <a:ext cx="182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60" dirty="0"/>
          </a:p>
        </p:txBody>
      </p:sp>
      <p:sp>
        <p:nvSpPr>
          <p:cNvPr id="18" name="Text 16"/>
          <p:cNvSpPr/>
          <p:nvPr/>
        </p:nvSpPr>
        <p:spPr>
          <a:xfrm>
            <a:off x="5468112" y="243230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b="1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5 critical fields from generated PDFs</a:t>
            </a:r>
            <a:endParaRPr lang="en-US" sz="1610" dirty="0"/>
          </a:p>
        </p:txBody>
      </p:sp>
      <p:sp>
        <p:nvSpPr>
          <p:cNvPr id="19" name="Shape 17"/>
          <p:cNvSpPr/>
          <p:nvPr/>
        </p:nvSpPr>
        <p:spPr>
          <a:xfrm>
            <a:off x="4983480" y="3127248"/>
            <a:ext cx="338328" cy="338328"/>
          </a:xfrm>
          <a:prstGeom prst="ellipse">
            <a:avLst/>
          </a:prstGeom>
          <a:solidFill>
            <a:srgbClr val="DEECE4"/>
          </a:solidFill>
          <a:ln w="12700">
            <a:solidFill>
              <a:srgbClr val="DEECE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6632" y="3191256"/>
            <a:ext cx="182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60" dirty="0"/>
          </a:p>
        </p:txBody>
      </p:sp>
      <p:sp>
        <p:nvSpPr>
          <p:cNvPr id="21" name="Text 19"/>
          <p:cNvSpPr/>
          <p:nvPr/>
        </p:nvSpPr>
        <p:spPr>
          <a:xfrm>
            <a:off x="5468112" y="30815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directly conflicting fee / rate / tenure</a:t>
            </a:r>
            <a:endParaRPr lang="en-US" sz="1610" dirty="0"/>
          </a:p>
        </p:txBody>
      </p:sp>
      <p:sp>
        <p:nvSpPr>
          <p:cNvPr id="22" name="Shape 20"/>
          <p:cNvSpPr/>
          <p:nvPr/>
        </p:nvSpPr>
        <p:spPr>
          <a:xfrm>
            <a:off x="4983480" y="3776472"/>
            <a:ext cx="338328" cy="338328"/>
          </a:xfrm>
          <a:prstGeom prst="ellipse">
            <a:avLst/>
          </a:prstGeom>
          <a:solidFill>
            <a:srgbClr val="DEECE4"/>
          </a:solidFill>
          <a:ln w="12700">
            <a:solidFill>
              <a:srgbClr val="DEECE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3840480"/>
            <a:ext cx="182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60" dirty="0"/>
          </a:p>
        </p:txBody>
      </p:sp>
      <p:sp>
        <p:nvSpPr>
          <p:cNvPr id="24" name="Text 22"/>
          <p:cNvSpPr/>
          <p:nvPr/>
        </p:nvSpPr>
        <p:spPr>
          <a:xfrm>
            <a:off x="5468112" y="373075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Recalculate EMIs and show supporting lines</a:t>
            </a:r>
            <a:endParaRPr lang="en-US" sz="1610" dirty="0"/>
          </a:p>
        </p:txBody>
      </p:sp>
      <p:sp>
        <p:nvSpPr>
          <p:cNvPr id="25" name="Shape 23"/>
          <p:cNvSpPr/>
          <p:nvPr/>
        </p:nvSpPr>
        <p:spPr>
          <a:xfrm>
            <a:off x="4983480" y="4526280"/>
            <a:ext cx="6409944" cy="0"/>
          </a:xfrm>
          <a:prstGeom prst="line">
            <a:avLst/>
          </a:prstGeom>
          <a:noFill/>
          <a:ln w="13335">
            <a:solidFill>
              <a:srgbClr val="D6E0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47091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270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NOT YET VALIDATED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5065776"/>
            <a:ext cx="6272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334F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lender formats  /  scanned PDFs  /  regulatory compliance</a:t>
            </a:r>
            <a:endParaRPr lang="en-US" sz="1560" dirty="0"/>
          </a:p>
        </p:txBody>
      </p:sp>
      <p:sp>
        <p:nvSpPr>
          <p:cNvPr id="28" name="Shape 26"/>
          <p:cNvSpPr/>
          <p:nvPr/>
        </p:nvSpPr>
        <p:spPr>
          <a:xfrm>
            <a:off x="722376" y="5870448"/>
            <a:ext cx="10689336" cy="365760"/>
          </a:xfrm>
          <a:prstGeom prst="roundRect">
            <a:avLst>
              <a:gd name="adj" fmla="val 15000"/>
            </a:avLst>
          </a:prstGeom>
          <a:solidFill>
            <a:srgbClr val="DEECE4"/>
          </a:solidFill>
          <a:ln w="12700">
            <a:solidFill>
              <a:srgbClr val="DEECE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8408" y="5961888"/>
            <a:ext cx="10158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5" b="1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scope-limited prototype with honest boundaries is stronger than an unverified “99% accuracy” claim.</a:t>
            </a:r>
            <a:endParaRPr lang="en-US" sz="136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57C70"/>
          </a:solidFill>
          <a:ln w="12700">
            <a:solidFill>
              <a:srgbClr val="257C7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10896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IMPLEMENTATION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446520"/>
            <a:ext cx="10890504" cy="0"/>
          </a:xfrm>
          <a:prstGeom prst="line">
            <a:avLst/>
          </a:prstGeom>
          <a:noFill/>
          <a:ln w="10160">
            <a:solidFill>
              <a:srgbClr val="D6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6510528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70" kern="0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LOANMIRROR  /  CYPHER '26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991088" y="65013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06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75895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50" b="1" spc="-65" kern="0" dirty="0">
                <a:solidFill>
                  <a:srgbClr val="142F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An eight-hour build. A clear technical objective.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685800" y="14264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a demo that works end-to-end before adding broad AI capability.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3232" y="2103120"/>
            <a:ext cx="2734056" cy="1911096"/>
          </a:xfrm>
          <a:prstGeom prst="roundRect">
            <a:avLst>
              <a:gd name="adj" fmla="val 813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103120"/>
            <a:ext cx="2734056" cy="19110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257C7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00 — 02h</a:t>
            </a:r>
            <a:endParaRPr lang="en-US" sz="1930" dirty="0"/>
          </a:p>
        </p:txBody>
      </p:sp>
      <p:sp>
        <p:nvSpPr>
          <p:cNvPr id="12" name="Shape 10"/>
          <p:cNvSpPr/>
          <p:nvPr/>
        </p:nvSpPr>
        <p:spPr>
          <a:xfrm>
            <a:off x="923544" y="2816352"/>
            <a:ext cx="2313432" cy="0"/>
          </a:xfrm>
          <a:prstGeom prst="line">
            <a:avLst/>
          </a:prstGeom>
          <a:noFill/>
          <a:ln w="12700">
            <a:solidFill>
              <a:srgbClr val="D6E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6265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spc="220" kern="0" dirty="0">
                <a:solidFill>
                  <a:srgbClr val="183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914400" y="3282696"/>
            <a:ext cx="2404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F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offer + KFS PDFs</a:t>
            </a:r>
            <a:endParaRPr lang="en-US" sz="1580" dirty="0"/>
          </a:p>
        </p:txBody>
      </p:sp>
      <p:sp>
        <p:nvSpPr>
          <p:cNvPr id="15" name="Shape 13"/>
          <p:cNvSpPr/>
          <p:nvPr/>
        </p:nvSpPr>
        <p:spPr>
          <a:xfrm>
            <a:off x="3621024" y="2103120"/>
            <a:ext cx="2734056" cy="1911096"/>
          </a:xfrm>
          <a:prstGeom prst="roundRect">
            <a:avLst>
              <a:gd name="adj" fmla="val 8134"/>
            </a:avLst>
          </a:prstGeom>
          <a:solidFill>
            <a:srgbClr val="EDF3EE"/>
          </a:solidFill>
          <a:ln w="12700">
            <a:solidFill>
              <a:srgbClr val="EDF3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21024" y="2103120"/>
            <a:ext cx="2734056" cy="1911096"/>
          </a:xfrm>
          <a:prstGeom prst="roundRect">
            <a:avLst/>
          </a:prstGeom>
          <a:solidFill>
            <a:srgbClr val="EDF3EE"/>
          </a:solidFill>
          <a:ln w="11430">
            <a:solidFill>
              <a:srgbClr val="D6E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2192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257C7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 — 04h</a:t>
            </a:r>
            <a:endParaRPr lang="en-US" sz="1930" dirty="0"/>
          </a:p>
        </p:txBody>
      </p:sp>
      <p:sp>
        <p:nvSpPr>
          <p:cNvPr id="18" name="Shape 16"/>
          <p:cNvSpPr/>
          <p:nvPr/>
        </p:nvSpPr>
        <p:spPr>
          <a:xfrm>
            <a:off x="3831336" y="2816352"/>
            <a:ext cx="2313432" cy="0"/>
          </a:xfrm>
          <a:prstGeom prst="line">
            <a:avLst/>
          </a:prstGeom>
          <a:noFill/>
          <a:ln w="12700">
            <a:solidFill>
              <a:srgbClr val="D6E0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22192" y="296265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spc="220" kern="0" dirty="0">
                <a:solidFill>
                  <a:srgbClr val="183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3822192" y="3282696"/>
            <a:ext cx="2404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F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extracted fields</a:t>
            </a:r>
            <a:endParaRPr lang="en-US" sz="1580" dirty="0"/>
          </a:p>
        </p:txBody>
      </p:sp>
      <p:sp>
        <p:nvSpPr>
          <p:cNvPr id="21" name="Shape 19"/>
          <p:cNvSpPr/>
          <p:nvPr/>
        </p:nvSpPr>
        <p:spPr>
          <a:xfrm>
            <a:off x="6528816" y="2103120"/>
            <a:ext cx="2734056" cy="1911096"/>
          </a:xfrm>
          <a:prstGeom prst="roundRect">
            <a:avLst>
              <a:gd name="adj" fmla="val 813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28816" y="2103120"/>
            <a:ext cx="2734056" cy="19110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E0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9984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257C7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04 — 06h</a:t>
            </a:r>
            <a:endParaRPr lang="en-US" sz="1930" dirty="0"/>
          </a:p>
        </p:txBody>
      </p:sp>
      <p:sp>
        <p:nvSpPr>
          <p:cNvPr id="24" name="Shape 22"/>
          <p:cNvSpPr/>
          <p:nvPr/>
        </p:nvSpPr>
        <p:spPr>
          <a:xfrm>
            <a:off x="6739128" y="2816352"/>
            <a:ext cx="2313432" cy="0"/>
          </a:xfrm>
          <a:prstGeom prst="line">
            <a:avLst/>
          </a:prstGeom>
          <a:noFill/>
          <a:ln w="12700">
            <a:solidFill>
              <a:srgbClr val="D6E0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9984" y="296265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spc="220" kern="0" dirty="0">
                <a:solidFill>
                  <a:srgbClr val="183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6729984" y="3282696"/>
            <a:ext cx="2404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F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cash-flow + comparisons</a:t>
            </a:r>
            <a:endParaRPr lang="en-US" sz="1580" dirty="0"/>
          </a:p>
        </p:txBody>
      </p:sp>
      <p:sp>
        <p:nvSpPr>
          <p:cNvPr id="27" name="Shape 25"/>
          <p:cNvSpPr/>
          <p:nvPr/>
        </p:nvSpPr>
        <p:spPr>
          <a:xfrm>
            <a:off x="9436608" y="2103120"/>
            <a:ext cx="2734056" cy="1911096"/>
          </a:xfrm>
          <a:prstGeom prst="roundRect">
            <a:avLst>
              <a:gd name="adj" fmla="val 8134"/>
            </a:avLst>
          </a:prstGeom>
          <a:solidFill>
            <a:srgbClr val="EDF3EE"/>
          </a:solidFill>
          <a:ln w="12700">
            <a:solidFill>
              <a:srgbClr val="EDF3EE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36608" y="2103120"/>
            <a:ext cx="2734056" cy="1911096"/>
          </a:xfrm>
          <a:prstGeom prst="roundRect">
            <a:avLst/>
          </a:prstGeom>
          <a:solidFill>
            <a:srgbClr val="EDF3EE"/>
          </a:solidFill>
          <a:ln w="11430">
            <a:solidFill>
              <a:srgbClr val="D6E0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37776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257C7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06 — 08h</a:t>
            </a:r>
            <a:endParaRPr lang="en-US" sz="1930" dirty="0"/>
          </a:p>
        </p:txBody>
      </p:sp>
      <p:sp>
        <p:nvSpPr>
          <p:cNvPr id="30" name="Shape 28"/>
          <p:cNvSpPr/>
          <p:nvPr/>
        </p:nvSpPr>
        <p:spPr>
          <a:xfrm>
            <a:off x="9646920" y="2816352"/>
            <a:ext cx="2313432" cy="0"/>
          </a:xfrm>
          <a:prstGeom prst="line">
            <a:avLst/>
          </a:prstGeom>
          <a:noFill/>
          <a:ln w="12700">
            <a:solidFill>
              <a:srgbClr val="D6E0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37776" y="296265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spc="220" kern="0" dirty="0">
                <a:solidFill>
                  <a:srgbClr val="183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</a:t>
            </a:r>
            <a:endParaRPr lang="en-US" sz="1130" dirty="0"/>
          </a:p>
        </p:txBody>
      </p:sp>
      <p:sp>
        <p:nvSpPr>
          <p:cNvPr id="32" name="Text 30"/>
          <p:cNvSpPr/>
          <p:nvPr/>
        </p:nvSpPr>
        <p:spPr>
          <a:xfrm>
            <a:off x="9637776" y="3282696"/>
            <a:ext cx="2404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F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Test, polish, rehearse</a:t>
            </a:r>
            <a:endParaRPr lang="en-US" sz="1580" dirty="0"/>
          </a:p>
        </p:txBody>
      </p:sp>
      <p:sp>
        <p:nvSpPr>
          <p:cNvPr id="33" name="Shape 31"/>
          <p:cNvSpPr/>
          <p:nvPr/>
        </p:nvSpPr>
        <p:spPr>
          <a:xfrm>
            <a:off x="731520" y="4471416"/>
            <a:ext cx="10689336" cy="0"/>
          </a:xfrm>
          <a:prstGeom prst="line">
            <a:avLst/>
          </a:prstGeom>
          <a:noFill/>
          <a:ln w="13970">
            <a:solidFill>
              <a:srgbClr val="D6E0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" y="471830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spc="220" kern="0" dirty="0">
                <a:solidFill>
                  <a:srgbClr val="257C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MUST WORK</a:t>
            </a:r>
            <a:endParaRPr lang="en-US" sz="1140" dirty="0"/>
          </a:p>
        </p:txBody>
      </p:sp>
      <p:sp>
        <p:nvSpPr>
          <p:cNvPr id="35" name="Text 33"/>
          <p:cNvSpPr/>
          <p:nvPr/>
        </p:nvSpPr>
        <p:spPr>
          <a:xfrm>
            <a:off x="731520" y="50749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10" b="1" dirty="0">
                <a:solidFill>
                  <a:srgbClr val="142F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PDFs  ·  Verified terms  ·  Correct calculations  ·  Evidence trail</a:t>
            </a:r>
            <a:endParaRPr lang="en-US" sz="1810" dirty="0"/>
          </a:p>
        </p:txBody>
      </p:sp>
      <p:sp>
        <p:nvSpPr>
          <p:cNvPr id="36" name="Text 34"/>
          <p:cNvSpPr/>
          <p:nvPr/>
        </p:nvSpPr>
        <p:spPr>
          <a:xfrm>
            <a:off x="740664" y="561441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spc="220" kern="0" dirty="0">
                <a:solidFill>
                  <a:srgbClr val="C270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STRETCH, NOT A PROMISE</a:t>
            </a:r>
            <a:endParaRPr lang="en-US" sz="1060" dirty="0"/>
          </a:p>
        </p:txBody>
      </p:sp>
      <p:sp>
        <p:nvSpPr>
          <p:cNvPr id="37" name="Text 35"/>
          <p:cNvSpPr/>
          <p:nvPr/>
        </p:nvSpPr>
        <p:spPr>
          <a:xfrm>
            <a:off x="731520" y="5925312"/>
            <a:ext cx="10680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79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OCR, diverse lender layouts, multilingual explanation, optional AI extraction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Indian Avengers / CYPHER 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LoanMirror — Know the real cost before you borrow</dc:title>
  <dc:subject>CYPHER '26 Round 1 Submission</dc:subject>
  <dc:creator>LoanMirror Team</dc:creator>
  <cp:lastModifiedBy>LoanMirror Team</cp:lastModifiedBy>
  <cp:revision>1</cp:revision>
  <dcterms:created xsi:type="dcterms:W3CDTF">2026-10-23T18:43:06Z</dcterms:created>
  <dcterms:modified xsi:type="dcterms:W3CDTF">2026-10-23T18:43:06Z</dcterms:modified>
</cp:coreProperties>
</file>